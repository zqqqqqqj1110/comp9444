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emf" ContentType="image/x-emf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bb04179c07483c" /><Relationship Type="http://schemas.openxmlformats.org/officeDocument/2006/relationships/extended-properties" Target="/docProps/app.xml" Id="R065902588a8c4090" /><Relationship Type="http://schemas.openxmlformats.org/officeDocument/2006/relationships/officeDocument" Target="/ppt/presentation.xml" Id="R8988bc4927344e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f3f2cfae6242e1"/>
  </p:sldMasterIdLst>
  <p:notesMasterIdLst>
    <p:notesMasterId xmlns:r="http://schemas.openxmlformats.org/officeDocument/2006/relationships" r:id="R35366fe57a61461a"/>
  </p:notesMasterIdLst>
  <p:sldIdLst>
    <p:sldId xmlns:r="http://schemas.openxmlformats.org/officeDocument/2006/relationships" id="256" r:id="R51c6785e01dc478c"/>
    <p:sldId xmlns:r="http://schemas.openxmlformats.org/officeDocument/2006/relationships" id="257" r:id="R4c7a9d7c75c64e06"/>
    <p:sldId xmlns:r="http://schemas.openxmlformats.org/officeDocument/2006/relationships" id="258" r:id="Ra36676a27deb40de"/>
    <p:sldId xmlns:r="http://schemas.openxmlformats.org/officeDocument/2006/relationships" id="259" r:id="R959ceb7f04394558"/>
    <p:sldId xmlns:r="http://schemas.openxmlformats.org/officeDocument/2006/relationships" id="260" r:id="R062f83411f974fd6"/>
    <p:sldId xmlns:r="http://schemas.openxmlformats.org/officeDocument/2006/relationships" id="261" r:id="Rc08a7a3814734425"/>
    <p:sldId xmlns:r="http://schemas.openxmlformats.org/officeDocument/2006/relationships" id="262" r:id="Rbfce39a338144e07"/>
    <p:sldId xmlns:r="http://schemas.openxmlformats.org/officeDocument/2006/relationships" id="263" r:id="R6f7e445a014f4489"/>
    <p:sldId xmlns:r="http://schemas.openxmlformats.org/officeDocument/2006/relationships" id="264" r:id="R926e1fc2cc6c4133"/>
    <p:sldId xmlns:r="http://schemas.openxmlformats.org/officeDocument/2006/relationships" id="265" r:id="R4d54216c87cb4150"/>
    <p:sldId xmlns:r="http://schemas.openxmlformats.org/officeDocument/2006/relationships" id="266" r:id="R764249008c764247"/>
    <p:sldId xmlns:r="http://schemas.openxmlformats.org/officeDocument/2006/relationships" id="267" r:id="R3621df07a0034d11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90B10CE5-6882-2DE7-9902-BAC4E601EA9A}" name="Ramtin Gharleghi" initials="RG" userId="S::z5190098@ad.unsw.edu.au::2d9e2e9d-6010-4e5a-81fc-9c56bfbf9f7a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c1465729424557" /><Relationship Type="http://schemas.openxmlformats.org/officeDocument/2006/relationships/slideMaster" Target="/ppt/slideMasters/slideMaster1.xml" Id="R0cf3f2cfae6242e1" /><Relationship Type="http://schemas.openxmlformats.org/officeDocument/2006/relationships/notesMaster" Target="/ppt/notesMasters/notesMaster1.xml" Id="R35366fe57a61461a" /><Relationship Type="http://schemas.openxmlformats.org/officeDocument/2006/relationships/presProps" Target="/ppt/presProps.xml" Id="Rcb2d6ed89aa44bff" /><Relationship Type="http://schemas.openxmlformats.org/officeDocument/2006/relationships/viewProps" Target="/ppt/viewProps.xml" Id="R6c38784e6da54288" /><Relationship Type="http://schemas.openxmlformats.org/officeDocument/2006/relationships/tableStyles" Target="/ppt/tableStyles.xml" Id="R56ceea6fa98846c1" /><Relationship Type="http://schemas.microsoft.com/office/2018/10/relationships/authors" Target="/ppt/authors.xml" Id="Rda2f927876cc4296" /><Relationship Type="http://schemas.openxmlformats.org/officeDocument/2006/relationships/slide" Target="/ppt/slides/slide1.xml" Id="R51c6785e01dc478c" /><Relationship Type="http://schemas.openxmlformats.org/officeDocument/2006/relationships/slide" Target="/ppt/slides/slide2.xml" Id="R4c7a9d7c75c64e06" /><Relationship Type="http://schemas.openxmlformats.org/officeDocument/2006/relationships/slide" Target="/ppt/slides/slide3.xml" Id="Ra36676a27deb40de" /><Relationship Type="http://schemas.openxmlformats.org/officeDocument/2006/relationships/slide" Target="/ppt/slides/slide4.xml" Id="R959ceb7f04394558" /><Relationship Type="http://schemas.openxmlformats.org/officeDocument/2006/relationships/slide" Target="/ppt/slides/slide5.xml" Id="R062f83411f974fd6" /><Relationship Type="http://schemas.openxmlformats.org/officeDocument/2006/relationships/slide" Target="/ppt/slides/slide6.xml" Id="Rc08a7a3814734425" /><Relationship Type="http://schemas.openxmlformats.org/officeDocument/2006/relationships/slide" Target="/ppt/slides/slide7.xml" Id="Rbfce39a338144e07" /><Relationship Type="http://schemas.openxmlformats.org/officeDocument/2006/relationships/slide" Target="/ppt/slides/slide8.xml" Id="R6f7e445a014f4489" /><Relationship Type="http://schemas.openxmlformats.org/officeDocument/2006/relationships/slide" Target="/ppt/slides/slide9.xml" Id="R926e1fc2cc6c4133" /><Relationship Type="http://schemas.openxmlformats.org/officeDocument/2006/relationships/slide" Target="/ppt/slides/slide10.xml" Id="R4d54216c87cb4150" /><Relationship Type="http://schemas.openxmlformats.org/officeDocument/2006/relationships/slide" Target="/ppt/slides/slide11.xml" Id="R764249008c764247" /><Relationship Type="http://schemas.openxmlformats.org/officeDocument/2006/relationships/slide" Target="/ppt/slides/slide12.xml" Id="R3621df07a0034d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78806e2a9d48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324f4eaec04681" /><Relationship Type="http://schemas.openxmlformats.org/officeDocument/2006/relationships/notesMaster" Target="/ppt/notesMasters/notesMaster1.xml" Id="Rbfdb3f46e7e544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1ef4e453564f10" /><Relationship Type="http://schemas.openxmlformats.org/officeDocument/2006/relationships/notesMaster" Target="/ppt/notesMasters/notesMaster1.xml" Id="Rfe94127cd16146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52197c9d3b4eee" /><Relationship Type="http://schemas.openxmlformats.org/officeDocument/2006/relationships/notesMaster" Target="/ppt/notesMasters/notesMaster1.xml" Id="R0d368c51d4a847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5f2bb258104117" /><Relationship Type="http://schemas.openxmlformats.org/officeDocument/2006/relationships/notesMaster" Target="/ppt/notesMasters/notesMaster1.xml" Id="R56057c52b25641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2bb320f8dc41ef" /><Relationship Type="http://schemas.openxmlformats.org/officeDocument/2006/relationships/notesMaster" Target="/ppt/notesMasters/notesMaster1.xml" Id="R0a24341fe28341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b363308e694065" /><Relationship Type="http://schemas.openxmlformats.org/officeDocument/2006/relationships/notesMaster" Target="/ppt/notesMasters/notesMaster1.xml" Id="R26077939ab7842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1f03a2eb534b89" /><Relationship Type="http://schemas.openxmlformats.org/officeDocument/2006/relationships/notesMaster" Target="/ppt/notesMasters/notesMaster1.xml" Id="R743f6387f9ff4b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53fb5e3ccc43ef" /><Relationship Type="http://schemas.openxmlformats.org/officeDocument/2006/relationships/notesMaster" Target="/ppt/notesMasters/notesMaster1.xml" Id="Ra3c7e442a4c341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a98eed2e5b477a" /><Relationship Type="http://schemas.openxmlformats.org/officeDocument/2006/relationships/notesMaster" Target="/ppt/notesMasters/notesMaster1.xml" Id="R9b766db2a7d74b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5f4c1716e24f13" /><Relationship Type="http://schemas.openxmlformats.org/officeDocument/2006/relationships/notesMaster" Target="/ppt/notesMasters/notesMaster1.xml" Id="R17912ac40f174e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e397a15f2b4acf" /><Relationship Type="http://schemas.openxmlformats.org/officeDocument/2006/relationships/notesMaster" Target="/ppt/notesMasters/notesMaster1.xml" Id="R23f16a29803d44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f0d55ebdd74c1c" /><Relationship Type="http://schemas.openxmlformats.org/officeDocument/2006/relationships/notesMaster" Target="/ppt/notesMasters/notesMaster1.xml" Id="Raa27e5a259e744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as visual point-to-point navigation without a map.</a:t>
            </a:r>
          </a:p>
          <a:p xmlns:a="http://schemas.openxmlformats.org/drawingml/2006/main">
            <a:r>
              <a:t>State the comparison: vanilla DQN, PPO from scratch, and PPO curriculum.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D:\AirSim\rl_drone_navigation\README.md</a:t>
            </a:r>
          </a:p>
          <a:p xmlns:a="http://schemas.openxmlformats.org/drawingml/2006/main">
            <a:r>
              <a:t>- D:\AirSim\rl_drone_navigation\experiments\airsimnh\validated_comparison_seed7_test_seed20007.csv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route contains a house that blocks direct goal pursuit.</a:t>
            </a:r>
          </a:p>
          <a:p xmlns:a="http://schemas.openxmlformats.org/drawingml/2006/main">
            <a:r>
              <a:t>The policy must infer free space from depth while still following relative target direction.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D:\AirSim\rl_drone_navigation\src\airsim_drone_env.py</a:t>
            </a:r>
          </a:p>
          <a:p xmlns:a="http://schemas.openxmlformats.org/drawingml/2006/main">
            <a:r>
              <a:t>- D:\AirSim\rl_drone_navigation\experiments\airsimnh\ppo\curriculum_stage02_23m_10k_seed7_stable_v2_stage2_pilot\recordings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Delineate prior work from our implementation.</a:t>
            </a:r>
          </a:p>
          <a:p xmlns:a="http://schemas.openxmlformats.org/drawingml/2006/main">
            <a:r>
              <a:t>AirSim and DQN are established foundations; our contribution is the navigation environment and controlled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https://arxiv.org/abs/1705.05065</a:t>
            </a:r>
          </a:p>
          <a:p xmlns:a="http://schemas.openxmlformats.org/drawingml/2006/main">
            <a:r>
              <a:t>- https://www.nature.com/articles/nature14236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PPO is selected because the action space is discrete and policy stability matters.</a:t>
            </a:r>
          </a:p>
          <a:p xmlns:a="http://schemas.openxmlformats.org/drawingml/2006/main">
            <a:r>
              <a:t>Curriculum is a hypothesis, not an assumed improvement; the experiment tests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https://arxiv.org/abs/1707.06347</a:t>
            </a:r>
          </a:p>
          <a:p xmlns:a="http://schemas.openxmlformats.org/drawingml/2006/main">
            <a:r>
              <a:t>- https://icml.cc/2009/papers/119.pdf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Relate this slide directly to the rubric's data or RL task analysis.</a:t>
            </a:r>
          </a:p>
          <a:p xmlns:a="http://schemas.openxmlformats.org/drawingml/2006/main">
            <a:r>
              <a:t>The depth inset is the policy input; RGB is recorded only for human inspection.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D:\AirSim\rl_drone_navigation\src\airsim_drone_env.py</a:t>
            </a:r>
          </a:p>
          <a:p xmlns:a="http://schemas.openxmlformats.org/drawingml/2006/main">
            <a:r>
              <a:t>- D:\AirSim\rl_drone_navigation\experiments\airsimnh\ppo\curriculum_stage02_23m_10k_seed7_stable_v2_stage2_pilot\recordings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Emphasise that DQN and PPO see the same representation and action set.</a:t>
            </a:r>
          </a:p>
          <a:p xmlns:a="http://schemas.openxmlformats.org/drawingml/2006/main">
            <a:r>
              <a:t>Layer normalisation was added before Tanh after diagnosing hidden-feature saturation.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D:\AirSim\rl_drone_navigation\src\dqn_agent.py</a:t>
            </a:r>
          </a:p>
          <a:p xmlns:a="http://schemas.openxmlformats.org/drawingml/2006/main">
            <a:r>
              <a:t>- D:\AirSim\rl_drone_navigation\src\ppo_agent.py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selection and final testing are separated.</a:t>
            </a:r>
          </a:p>
          <a:p xmlns:a="http://schemas.openxmlformats.org/drawingml/2006/main">
            <a:r>
              <a:t>The test seed is independent, but the route geometry remains fixed.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D:\AirSim\rl_drone_navigation\run_checkpoint_selection.ps1</a:t>
            </a:r>
          </a:p>
          <a:p xmlns:a="http://schemas.openxmlformats.org/drawingml/2006/main">
            <a:r>
              <a:t>- D:\AirSim\rl_drone_navigation\experiments\airsimnh\validated_comparison_seed7_test_seed20007.csv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compare raw curriculum rewards across stages because route lengths differ.</a:t>
            </a:r>
          </a:p>
          <a:p xmlns:a="http://schemas.openxmlformats.org/drawingml/2006/main">
            <a:r>
              <a:t>The plot uses 20-episode moving success and marks curriculum target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D:\AirSim\rl_drone_navigation\experiments\airsimnh\dqn\scratch_33m_45k_seed7_stable_v3_scratch\results\training_log.csv</a:t>
            </a:r>
          </a:p>
          <a:p xmlns:a="http://schemas.openxmlformats.org/drawingml/2006/main">
            <a:r>
              <a:t>- D:\AirSim\rl_drone_navigation\experiments\airsimnh\ppo\scratch_33m_45k_seed7_stable_v3_scratch\results\training_log.csv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primary deterministic comparison from 50 final-test episodes.</a:t>
            </a:r>
          </a:p>
          <a:p xmlns:a="http://schemas.openxmlformats.org/drawingml/2006/main">
            <a:r>
              <a:t>PPO Scratch succeeds in 49/50 episodes; the single failure is a collision.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D:\AirSim\rl_drone_navigation\experiments\airsimnh\validated_comparison_seed7_test_seed20007.csv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trajectory figure uses deterministic Episode 1 from each selected model.</a:t>
            </a:r>
          </a:p>
          <a:p xmlns:a="http://schemas.openxmlformats.org/drawingml/2006/main">
            <a:r>
              <a:t>Explain that deterministic is the deployment policy; stochastic sampling is a diagnostic.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D:\AirSim\rl_drone_navigation\experiments\airsimnh\validated_comparison_seed7_test_seed20007.csv</a:t>
            </a:r>
          </a:p>
          <a:p xmlns:a="http://schemas.openxmlformats.org/drawingml/2006/main">
            <a:r>
              <a:t>- D:\AirSim\rl_drone_navigation\experiments\airsimnh\ppo\scratch_33m_45k_seed7_stable_v3_scratch_validated_test_seed20007\results\evaluation_deterministic_trajectory.csv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separating evidence from future hypotheses.</a:t>
            </a:r>
          </a:p>
          <a:p xmlns:a="http://schemas.openxmlformats.org/drawingml/2006/main">
            <a:r>
              <a:t>The recommended inference model is pretrained/airsimnh/ppo_scratch_seed7.pt.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D:\AirSim\rl_drone_navigation\README.md</a:t>
            </a:r>
          </a:p>
          <a:p xmlns:a="http://schemas.openxmlformats.org/drawingml/2006/main">
            <a:r>
              <a:t>- D:\AirSim\rl_drone_navigation\pretrained\airsimnh\ppo_scratch_seed7.pt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questions on reward design, checkpoint selection, policy modes, and generalisation.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D:\AirSim\rl_drone_navigation\experiments\airsimnh\ppo\curriculum_stage02_23m_10k_seed7_stable_v2_stage2_pilot\recordings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1a96e2a8f34d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1d348ab6f48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628f4f25ef40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323b3d7ae49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14384d54f044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944af807224c1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7b5c2955684cf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89799a14df4d9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89ef2b9839498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aa4650a315416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3b7abab9804a8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673a59837841da" /><Relationship Type="http://schemas.openxmlformats.org/officeDocument/2006/relationships/image" Target="/ppt/media/image.png" Id="R1d049cbf9613464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a9b79d00f9412a" /><Relationship Type="http://schemas.openxmlformats.org/officeDocument/2006/relationships/image" Target="/ppt/media/image.emf" Id="R56ee5562b1ec4d6a" /><Relationship Type="http://schemas.openxmlformats.org/officeDocument/2006/relationships/image" Target="/ppt/media/image2.emf" Id="R6fbf12323d194a8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D9CC69-1DB5-8B4C-E984-537775889A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746AB9C-35E1-72A7-C1BD-2A68ABDF5C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3BADF0C-51C6-7419-3D8D-CE50A38B86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5DC2B86-F199-D6C7-6508-0F212835FA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76CA229-935C-8099-0E86-5ECC48D06E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1DEDE7-E9E0-024D-ECA2-08E54B25DB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017D77A-76FB-85A4-F394-25213E4C8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DFCDC2-DAA7-2417-8C12-59AD99F73D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94E4FE-3DEB-1A78-A982-79D37BE3DD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F844F9-28BE-776B-9E9D-2D8B60BFE3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9646D2-4849-55F2-9EDF-A792D2D5D8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A57F27-84A0-5427-C58F-7B0A3B7D35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151D2F-4DB1-E58D-F5B2-22856EBD9F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564215E-C1E7-0772-7B69-C49D663C03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C38AE6-A79D-47C3-230B-1AC81712AB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0A1BEC-192D-937E-DA59-2C1E6F9285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84B18E9-9BA1-6BDC-7D49-312A5A52B1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12D44C6-412A-DD4D-862D-B5E514E9B15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7240C3E-1460-3B32-C784-A5390B8194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D6C3E9E-91F4-68EB-3214-136D87F19E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FAA5AB8-7D83-5F63-650F-2F42E603A9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889673-788D-CEB8-3CAB-5325857C76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E7A4327-CB54-2F05-89B1-AE24F04363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7E392B2-77BB-A618-6A0F-13C2A2CD9F7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2758D8B-E275-A357-1522-80C6F2515F2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DDB81CE-9484-C3CC-76E1-DBC0AAD00E9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87C95D1-9F2A-BFEE-8F8A-A71FEA5D4B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D2A9D27-286A-0CD0-536E-3C31470F9E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683C16E-2B21-4D45-0DB5-880C81E3FE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F30EBF-8DA3-0A25-1033-CC234E8A46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45438F8-89A1-A067-F8E9-70C1687FAE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5613E1D-0C4A-5D32-26F9-1BCEB8481A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2DFB03E-F9B4-2433-81E1-3BD50D86FC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98F21A5-757D-D6A3-9443-5A6371AF2C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2F14B1B-5FF6-8469-6441-EB5B8B69B1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12CD0E0-0D21-6F48-935E-F6B75CC63D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CDA84B-7940-7822-2557-A9F64C4F63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31BFA02-B7AD-C565-8B71-EBFE90B147B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DC65417-3DB2-4D8D-8200-BD30635C58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50B6C3-E111-C7CB-AC6A-CC00EF12A6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88C9C6B-73DF-DF29-7D8E-406889E845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E5FA417-731E-9727-AF6F-6D28C15505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892BEE-A08A-4C6E-7CF0-B5E142A6A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0CB7E99-09CB-4FCE-7697-4152BD23EA1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B76087A-FE5D-60D9-AE0C-90223805AB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0EC7038-77D9-3267-A27B-7B49BB1DB3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4014C3-2621-ED8B-BAFE-7382D98EBB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C83137F-F472-9F0A-46F3-68538886EF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4E9202-C610-B140-08AE-44A7A81AE1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52C6ED7-FC32-3714-E040-43D1C4BE2F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5690846-30E1-0BAF-95AF-2C33ADEE6F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EBE872-C7C3-B46E-9774-8FB6415FB2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6FBA00-691F-09A6-F95B-E68F8744BC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C9E502C-2424-B094-C539-7DA0B74C68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953B7A-E936-2389-15BD-97911F5B1F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E08DFD5-019B-E5BD-82F1-29E012B370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EF73B12-943B-CDB8-92BA-AA488F9AD7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FD7ABB-25EC-73C5-D340-E23440DCE8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70D427A-31A8-804F-A88E-B2237F6F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06291" y="372292"/>
            <a:ext cx="779419" cy="12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C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49cbf961346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07849" y="6139546"/>
            <a:ext cx="598271" cy="701040"/>
          </a:xfrm>
          <a:prstGeom xmlns:a="http://schemas.openxmlformats.org/drawingml/2006/main" prst="rect">
            <a:avLst/>
          </a:prstGeom>
        </p:spPr>
      </p:pic>
      <p:sp>
        <p:nvSpPr>
          <p:cNvPr id="4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14B686-A7B8-C34E-BD3F-17AD72808B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9B41C51-D68E-9449-86C7-CBC06D1C8A0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088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  <a:lvl2pPr>
              <a:buNone/>
              <a:defRPr>
                <a:latin typeface="Arial"/>
                <a:ea typeface="Arial"/>
                <a:cs typeface="Arial"/>
              </a:defRPr>
            </a:lvl2pPr>
            <a:lvl3pPr>
              <a:buNone/>
              <a:defRPr>
                <a:latin typeface="Arial"/>
                <a:ea typeface="Arial"/>
                <a:cs typeface="Arial"/>
              </a:defRPr>
            </a:lvl3pPr>
            <a:lvl4pPr>
              <a:buNone/>
              <a:defRPr>
                <a:latin typeface="Arial"/>
                <a:ea typeface="Arial"/>
                <a:cs typeface="Arial"/>
              </a:defRPr>
            </a:lvl4pPr>
            <a:lvl5pPr>
              <a:buNone/>
              <a:defRPr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183BF01-419E-0890-7FE1-A0EF7A192F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1BC6101-507B-F3EE-D41C-583775C6FD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985946-5ABD-9B6F-9732-CD57BE2421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13.xml><?xml version="1.0" encoding="utf-8"?>
<p:sldLayout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F9CB962-B705-314A-93E0-7EFEF584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1"/>
            <a:ext cx="5543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C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e5562b1ec4d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999759">
            <a:off x="1292068" y="-612610"/>
            <a:ext cx="5135041" cy="7002330"/>
          </a:xfrm>
          <a:prstGeom xmlns:a="http://schemas.openxmlformats.org/drawingml/2006/main" prst="rect">
            <a:avLst/>
          </a:prstGeom>
        </p:spPr>
      </p:pic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bf12323d194a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055" y="4792776"/>
            <a:ext cx="1760572" cy="1842248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872a1a68874c9d" /><Relationship Type="http://schemas.openxmlformats.org/officeDocument/2006/relationships/slideLayout" Target="/ppt/slideLayouts/slideLayout1.xml" Id="R441d4db8fa1041a0" /><Relationship Type="http://schemas.openxmlformats.org/officeDocument/2006/relationships/slideLayout" Target="/ppt/slideLayouts/slideLayout2.xml" Id="R5ccb85f8fa6a44cd" /><Relationship Type="http://schemas.openxmlformats.org/officeDocument/2006/relationships/slideLayout" Target="/ppt/slideLayouts/slideLayout3.xml" Id="R0655227e0e564338" /><Relationship Type="http://schemas.openxmlformats.org/officeDocument/2006/relationships/slideLayout" Target="/ppt/slideLayouts/slideLayout4.xml" Id="Rd05ab1138b924522" /><Relationship Type="http://schemas.openxmlformats.org/officeDocument/2006/relationships/slideLayout" Target="/ppt/slideLayouts/slideLayout5.xml" Id="R028c46830be04a06" /><Relationship Type="http://schemas.openxmlformats.org/officeDocument/2006/relationships/slideLayout" Target="/ppt/slideLayouts/slideLayout6.xml" Id="R1494ada48b66422b" /><Relationship Type="http://schemas.openxmlformats.org/officeDocument/2006/relationships/slideLayout" Target="/ppt/slideLayouts/slideLayout7.xml" Id="R4e588c9eb28c4f4e" /><Relationship Type="http://schemas.openxmlformats.org/officeDocument/2006/relationships/slideLayout" Target="/ppt/slideLayouts/slideLayout8.xml" Id="Ra18a4dc0d46f4d96" /><Relationship Type="http://schemas.openxmlformats.org/officeDocument/2006/relationships/slideLayout" Target="/ppt/slideLayouts/slideLayout9.xml" Id="R72ee58be5eec49ac" /><Relationship Type="http://schemas.openxmlformats.org/officeDocument/2006/relationships/slideLayout" Target="/ppt/slideLayouts/slideLayout10.xml" Id="R15c47bb869c3476d" /><Relationship Type="http://schemas.openxmlformats.org/officeDocument/2006/relationships/slideLayout" Target="/ppt/slideLayouts/slideLayout11.xml" Id="Rd055795c201a4b2e" /><Relationship Type="http://schemas.openxmlformats.org/officeDocument/2006/relationships/slideLayout" Target="/ppt/slideLayouts/slideLayout12.xml" Id="R58e386a876ab4016" /><Relationship Type="http://schemas.openxmlformats.org/officeDocument/2006/relationships/slideLayout" Target="/ppt/slideLayouts/slideLayout13.xml" Id="R73dd3c769a4a464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9814D76-5DF1-A4E1-1338-B03D3642B4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DC58865-62AB-234F-36FF-19D673DE87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0927987-368E-CEF9-CAA0-8405857172F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EC300B-6F01-71B4-9B2C-1056A57DE4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A400E20-46EB-CC1D-6BF8-5489021285B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1d4db8fa1041a0"/>
    <p:sldLayoutId xmlns:r="http://schemas.openxmlformats.org/officeDocument/2006/relationships" id="2147483650" r:id="R5ccb85f8fa6a44cd"/>
    <p:sldLayoutId xmlns:r="http://schemas.openxmlformats.org/officeDocument/2006/relationships" id="2147483651" r:id="R0655227e0e564338"/>
    <p:sldLayoutId xmlns:r="http://schemas.openxmlformats.org/officeDocument/2006/relationships" id="2147483652" r:id="Rd05ab1138b924522"/>
    <p:sldLayoutId xmlns:r="http://schemas.openxmlformats.org/officeDocument/2006/relationships" id="2147483653" r:id="R028c46830be04a06"/>
    <p:sldLayoutId xmlns:r="http://schemas.openxmlformats.org/officeDocument/2006/relationships" id="2147483654" r:id="R1494ada48b66422b"/>
    <p:sldLayoutId xmlns:r="http://schemas.openxmlformats.org/officeDocument/2006/relationships" id="2147483655" r:id="R4e588c9eb28c4f4e"/>
    <p:sldLayoutId xmlns:r="http://schemas.openxmlformats.org/officeDocument/2006/relationships" id="2147483656" r:id="Ra18a4dc0d46f4d96"/>
    <p:sldLayoutId xmlns:r="http://schemas.openxmlformats.org/officeDocument/2006/relationships" id="2147483657" r:id="R72ee58be5eec49ac"/>
    <p:sldLayoutId xmlns:r="http://schemas.openxmlformats.org/officeDocument/2006/relationships" id="2147483658" r:id="R15c47bb869c3476d"/>
    <p:sldLayoutId xmlns:r="http://schemas.openxmlformats.org/officeDocument/2006/relationships" id="2147483659" r:id="Rd055795c201a4b2e"/>
    <p:sldLayoutId xmlns:r="http://schemas.openxmlformats.org/officeDocument/2006/relationships" id="2147483660" r:id="R58e386a876ab4016"/>
    <p:sldLayoutId xmlns:r="http://schemas.openxmlformats.org/officeDocument/2006/relationships" id="2147483661" r:id="R73dd3c769a4a4642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ed3547efa3dd40ec" /><Relationship Type="http://schemas.openxmlformats.org/officeDocument/2006/relationships/image" Target="/ppt/media/image.jpeg" Id="R67b47f95b90a4d0f" /><Relationship Type="http://schemas.openxmlformats.org/officeDocument/2006/relationships/image" Target="/ppt/media/image2.png" Id="Rc4c6ffbe67084916" /><Relationship Type="http://schemas.openxmlformats.org/officeDocument/2006/relationships/notesSlide" Target="/ppt/notesSlides/notesSlide1.xml" Id="R9f470a45a8fb4a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c63f1730727420a" /><Relationship Type="http://schemas.openxmlformats.org/officeDocument/2006/relationships/image" Target="/ppt/media/image3.png" Id="R79ec56cd9fce4fc6" /><Relationship Type="http://schemas.openxmlformats.org/officeDocument/2006/relationships/image" Target="/ppt/media/image2.jpeg" Id="Rbdd54007ecd6454d" /><Relationship Type="http://schemas.openxmlformats.org/officeDocument/2006/relationships/notesSlide" Target="/ppt/notesSlides/notesSlide2.xml" Id="R871f7acd20c045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438ee8f4fb04b50" /><Relationship Type="http://schemas.openxmlformats.org/officeDocument/2006/relationships/notesSlide" Target="/ppt/notesSlides/notesSlide3.xml" Id="R9366ee5f8ca543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c9ee093fc734cad" /><Relationship Type="http://schemas.openxmlformats.org/officeDocument/2006/relationships/notesSlide" Target="/ppt/notesSlides/notesSlide4.xml" Id="Rfccc973f718f4d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328888204d4444f" /><Relationship Type="http://schemas.openxmlformats.org/officeDocument/2006/relationships/image" Target="/ppt/media/image3.png" Id="Rb4f9f76e33794534" /><Relationship Type="http://schemas.openxmlformats.org/officeDocument/2006/relationships/image" Target="/ppt/media/image3.jpeg" Id="Rdd78278136b34281" /><Relationship Type="http://schemas.openxmlformats.org/officeDocument/2006/relationships/notesSlide" Target="/ppt/notesSlides/notesSlide5.xml" Id="R6efdffde23014c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665de9efd9e469b" /><Relationship Type="http://schemas.openxmlformats.org/officeDocument/2006/relationships/notesSlide" Target="/ppt/notesSlides/notesSlide6.xml" Id="R3139abd449a540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a6fbbe100364507" /><Relationship Type="http://schemas.openxmlformats.org/officeDocument/2006/relationships/notesSlide" Target="/ppt/notesSlides/notesSlide7.xml" Id="Rb4a35c84276046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9c3b21ff5bf4bbd" /><Relationship Type="http://schemas.openxmlformats.org/officeDocument/2006/relationships/image" Target="/ppt/media/image3.png" Id="R88b3b70ab7084dee" /><Relationship Type="http://schemas.openxmlformats.org/officeDocument/2006/relationships/image" Target="/ppt/media/image4.png" Id="Rf38c2dca81844a86" /><Relationship Type="http://schemas.openxmlformats.org/officeDocument/2006/relationships/notesSlide" Target="/ppt/notesSlides/notesSlide8.xml" Id="Rcdb1d8a5f7d140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740a7e7851b44fe" /><Relationship Type="http://schemas.openxmlformats.org/officeDocument/2006/relationships/chart" Target="/ppt/slides/charts/chart1.xml" Id="Rf2b0bee47679404d" /><Relationship Type="http://schemas.openxmlformats.org/officeDocument/2006/relationships/notesSlide" Target="/ppt/notesSlides/notesSlide9.xml" Id="R0309ce1c4c4a4c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2e3c19ec6bf495d" /><Relationship Type="http://schemas.openxmlformats.org/officeDocument/2006/relationships/image" Target="/ppt/media/image3.png" Id="R45f6dfa4058c4ef4" /><Relationship Type="http://schemas.openxmlformats.org/officeDocument/2006/relationships/image" Target="/ppt/media/image5.png" Id="R28ef61927a514b11" /><Relationship Type="http://schemas.openxmlformats.org/officeDocument/2006/relationships/notesSlide" Target="/ppt/notesSlides/notesSlide10.xml" Id="Rd13377d5934740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7f5721debb34312" /><Relationship Type="http://schemas.openxmlformats.org/officeDocument/2006/relationships/notesSlide" Target="/ppt/notesSlides/notesSlide11.xml" Id="R2242540012f047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2ec744816fc48d5" /><Relationship Type="http://schemas.openxmlformats.org/officeDocument/2006/relationships/image" Target="/ppt/media/image4.jpeg" Id="Rba1f257a61ab40d7" /><Relationship Type="http://schemas.openxmlformats.org/officeDocument/2006/relationships/hyperlink" Target="https://www.picpedia.org/highway-signs/q/questions.html" TargetMode="External" Id="R1d27211336c64afa" /><Relationship Type="http://schemas.openxmlformats.org/officeDocument/2006/relationships/notesSlide" Target="/ppt/notesSlides/notesSlide12.xml" Id="R7b70f3a6bb3242a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Success</c:v>
          </c:tx>
          <c:spPr>
            <a:solidFill xmlns:a="http://schemas.openxmlformats.org/drawingml/2006/main">
              <a:srgbClr val="178F74"/>
            </a:solidFill>
          </c:spPr>
          <c:cat>
            <c:strLit>
              <c:ptCount val="3"/>
              <c:pt idx="0">
                <c:v>DQN Scratch</c:v>
              </c:pt>
              <c:pt idx="1">
                <c:v>PPO Scratch</c:v>
              </c:pt>
              <c:pt idx="2">
                <c:v>PPO Curriculum</c:v>
              </c:pt>
            </c:strLit>
          </c:cat>
          <c:val>
            <c:numLit>
              <c:formatCode>0"%"</c:formatCode>
              <c:ptCount val="3"/>
              <c:pt idx="0">
                <c:v>16</c:v>
              </c:pt>
              <c:pt idx="1">
                <c:v>98</c:v>
              </c:pt>
              <c:pt idx="2">
                <c:v>68</c:v>
              </c:pt>
            </c:numLit>
          </c:val>
        </c:ser>
        <c:ser>
          <c:idx val="1"/>
          <c:order val="1"/>
          <c:tx>
            <c:v>Collision</c:v>
          </c:tx>
          <c:spPr>
            <a:solidFill xmlns:a="http://schemas.openxmlformats.org/drawingml/2006/main">
              <a:srgbClr val="C44536"/>
            </a:solidFill>
          </c:spPr>
          <c:cat>
            <c:strLit>
              <c:ptCount val="3"/>
              <c:pt idx="0">
                <c:v>DQN Scratch</c:v>
              </c:pt>
              <c:pt idx="1">
                <c:v>PPO Scratch</c:v>
              </c:pt>
              <c:pt idx="2">
                <c:v>PPO Curriculum</c:v>
              </c:pt>
            </c:strLit>
          </c:cat>
          <c:val>
            <c:numLit>
              <c:formatCode>0"%"</c:formatCode>
              <c:ptCount val="3"/>
              <c:pt idx="0">
                <c:v>72</c:v>
              </c:pt>
              <c:pt idx="1">
                <c:v>2</c:v>
              </c:pt>
              <c:pt idx="2">
                <c:v>2</c:v>
              </c:pt>
            </c:numLit>
          </c:val>
        </c:ser>
        <c:ser>
          <c:idx val="2"/>
          <c:order val="2"/>
          <c:tx>
            <c:v>Timeout</c:v>
          </c:tx>
          <c:spPr>
            <a:solidFill xmlns:a="http://schemas.openxmlformats.org/drawingml/2006/main">
              <a:srgbClr val="D88C00"/>
            </a:solidFill>
          </c:spPr>
          <c:cat>
            <c:strLit>
              <c:ptCount val="3"/>
              <c:pt idx="0">
                <c:v>DQN Scratch</c:v>
              </c:pt>
              <c:pt idx="1">
                <c:v>PPO Scratch</c:v>
              </c:pt>
              <c:pt idx="2">
                <c:v>PPO Curriculum</c:v>
              </c:pt>
            </c:strLit>
          </c:cat>
          <c:val>
            <c:numLit>
              <c:formatCode>0"%"</c:formatCode>
              <c:ptCount val="3"/>
              <c:pt idx="0">
                <c:v>14</c:v>
              </c:pt>
              <c:pt idx="1">
                <c:v>0</c:v>
              </c:pt>
              <c:pt idx="2">
                <c:v>30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70778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CE1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/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7DFF856-7F9C-9D4C-B764-1C7E4E72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8497" y="2236126"/>
            <a:ext cx="5622524" cy="3749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>
                <a:latin typeface="Arial"/>
                <a:ea typeface="Arial"/>
                <a:cs typeface="Arial"/>
              </a:rPr>
              <a:t>Autonomous Drone Navigation</a:t>
            </a:r>
          </a:p>
          <a:p xmlns:a="http://schemas.openxmlformats.org/drawingml/2006/main">
            <a:pPr algn="ctr">
              <a:buNone/>
            </a:pPr>
            <a:r>
              <a:rPr sz="4800" b="1">
                <a:latin typeface="Arial"/>
                <a:ea typeface="Arial"/>
                <a:cs typeface="Arial"/>
              </a:rPr>
              <a:t>with Deep Reinforcement Learning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CCCC68E-A06E-1747-A719-B74DFB9F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831" y="2562407"/>
            <a:ext cx="6638005" cy="3477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>
                <a:latin typeface="Arial"/>
                <a:ea typeface="Arial"/>
                <a:cs typeface="Arial"/>
              </a:rPr>
              <a:t>COMP9444 Project Team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rPr sz="2800">
                <a:latin typeface="Arial"/>
                <a:ea typeface="Arial"/>
                <a:cs typeface="Arial"/>
              </a:rPr>
              <a:t>Visual depth | DQN | PPO | Curriculum</a:t>
            </a:r>
          </a:p>
        </p:txBody>
      </p:sp>
      <p:pic>
        <p:nvPicPr>
          <p:cNvPr id="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47f95b90a4d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44026" y="0"/>
            <a:ext cx="3349808" cy="2280048"/>
          </a:xfrm>
          <a:prstGeom xmlns:a="http://schemas.openxmlformats.org/drawingml/2006/main" prst="rect">
            <a:avLst/>
          </a:prstGeom>
        </p:spPr>
      </p:pic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6ffbe670849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893834" y="0"/>
            <a:ext cx="3288197" cy="22800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010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Depth replaces a stored obstacle map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900" y="1066800"/>
            <a:ext cx="4762500" cy="4810125"/>
          </a:xfrm>
        </p:spPr>
        <p:txBody>
          <a:bodyPr xmlns:a="http://schemas.openxmlformats.org/drawingml/2006/main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>
              <a:buFont typeface="Wingdings"/>
              <a:buChar char="Ø"/>
            </a:pPr>
            <a:r>
              <a:t>Goal: travel 32.55 m through AirSimNH and stop within 2 m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No map or explicit obstacle coordinates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Input: front depth + relative goal + velocity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Six discrete body-frame actions every 0.35 s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Safety failures terminate the episode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c56cd9fce4f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76200" y="-762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Presenter: COMP9444 Project Team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54007ecd6454d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7800" y="3057525"/>
            <a:ext cx="6705600" cy="2828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3636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AirSim enables learning; DQN is the baseline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1648" y="975360"/>
            <a:ext cx="11631168" cy="50352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Wingdings"/>
              <a:buChar char="Ø"/>
            </a:pPr>
            <a:r>
              <a:t>AirSim [1]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Unreal Engine visuals, multirotor physics, cameras and collision queries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Repeatable interaction without risking physical hardware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Deep Q-Network [2]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Learns discrete action values from image features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Replay buffer + target network improve training stability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Our baseline deliberately remains vanilla DQN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Presenter: COMP9444 Project Team</a:t>
            </a:r>
          </a:p>
        </p:txBody>
      </p:sp>
    </p:spTree>
    <p:extLst>
      <p:ext uri="{BB962C8B-B14F-4D97-AF65-F5344CB8AC3E}">
        <p14:creationId xmlns:p14="http://schemas.microsoft.com/office/powerpoint/2010/main" val="25608796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PPO limits updates; curriculum orders tasks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1648" y="975360"/>
            <a:ext cx="11631168" cy="50352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Wingdings"/>
              <a:buChar char="Ø"/>
            </a:pPr>
            <a:r>
              <a:t>Proximal Policy Optimisation [3]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Clipped surrogate objective limits destructive updates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Actor-critic learning supports stochastic discrete control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Curriculum learning [4]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Orders easier tasks before harder tasks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Our curriculum increases target distance: 10 m -&gt; 23 m -&gt; 33 m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Question: does curriculum help under the same 45k interactions?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Presenter: COMP9444 Project Team</a:t>
            </a:r>
          </a:p>
        </p:txBody>
      </p:sp>
    </p:spTree>
    <p:extLst>
      <p:ext uri="{BB962C8B-B14F-4D97-AF65-F5344CB8AC3E}">
        <p14:creationId xmlns:p14="http://schemas.microsoft.com/office/powerpoint/2010/main" val="25608796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AirSim supplies online experience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900" y="1066800"/>
            <a:ext cx="4762500" cy="4810125"/>
          </a:xfrm>
        </p:spPr>
        <p:txBody>
          <a:bodyPr xmlns:a="http://schemas.openxmlformats.org/drawingml/2006/main">
            <a:normAutofit fontScale="88930" lnSpcReduction="10000"/>
          </a:bodyPr>
          <a:lstStyle xmlns:a="http://schemas.openxmlformats.org/drawingml/2006/main"/>
          <a:p xmlns:a="http://schemas.openxmlformats.org/drawingml/2006/main">
            <a:pPr>
              <a:buFont typeface="Wingdings"/>
              <a:buChar char="Ø"/>
            </a:pPr>
            <a:r>
              <a:t>Observation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84 x 84 front depth, target offset and velocity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Pre-processing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Clip depth at 40 m; resize; convert near obstacles to high intensity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Challenge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Sparse +100 goal reward, unsafe exploration, partial observability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No classes, train/test images, SLAM or obstacle labels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9f76e337945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76200" y="-762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Presenter: COMP9444 Project Team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8278136b34281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7800" y="3057525"/>
            <a:ext cx="6705600" cy="2828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3636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>
            <a:normAutofit fontScale="80397"/>
          </a:bodyPr>
          <a:lstStyle xmlns:a="http://schemas.openxmlformats.org/drawingml/2006/main"/>
          <a:p xmlns:a="http://schemas.openxmlformats.org/drawingml/2006/main">
            <a:r>
              <a:t>A shared CNN keeps the algorithm comparison controlled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900" y="1181100"/>
            <a:ext cx="5810250" cy="4667250"/>
          </a:xfrm>
        </p:spPr>
        <p:txBody>
          <a:bodyPr xmlns:a="http://schemas.openxmlformats.org/drawingml/2006/main">
            <a:normAutofit fontScale="99306"/>
          </a:bodyPr>
          <a:lstStyle xmlns:a="http://schemas.openxmlformats.org/drawingml/2006/main"/>
          <a:p xmlns:a="http://schemas.openxmlformats.org/drawingml/2006/main">
            <a:pPr>
              <a:buFont typeface="Wingdings"/>
              <a:buChar char="Ø"/>
            </a:pPr>
            <a:r>
              <a:t>Common perception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3 convolution layers -&gt; 3,136 visual features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DQN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Replay + epsilon-greedy -&gt; six Q-values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Stable PPO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LayerNorm, Tanh, orthogonal initialisation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Actor logits + critic value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Presenter: COMP9444 Project Team</a:t>
            </a:r>
          </a:p>
        </p:txBody>
      </p:sp>
      <p:sp>
        <p:nvSpPr>
          <p:cNvPr id="7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2EC2BCC1-FD94-4B52-BBF7-16CEA5FF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90750"/>
            <a:ext cx="5334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D100"/>
          </a:solidFill>
          <a:ln xmlns:a="http://schemas.openxmlformats.org/drawingml/2006/main" w="7620">
            <a:solidFill>
              <a:srgbClr val="B28A00"/>
            </a:solidFill>
            <a:prstDash val="solid"/>
          </a:ln>
        </p:spPr>
      </p:sp>
      <p:sp>
        <p:nvSpPr>
          <p:cNvPr id="8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7B7D2FDF-D68D-4AED-B574-A8FD3E27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5334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D100"/>
          </a:solidFill>
          <a:ln xmlns:a="http://schemas.openxmlformats.org/drawingml/2006/main" w="7620">
            <a:solidFill>
              <a:srgbClr val="B28A00"/>
            </a:solidFill>
            <a:prstDash val="solid"/>
          </a:ln>
        </p:spPr>
      </p:sp>
      <p:sp>
        <p:nvSpPr>
          <p:cNvPr id="9" name="architecture-arrow-3">
            <a:extLst xmlns:a="http://schemas.openxmlformats.org/drawingml/2006/main">
              <a:ext uri="{FF2B5EF4-FFF2-40B4-BE49-F238E27FC236}">
                <a16:creationId xmlns:a16="http://schemas.microsoft.com/office/drawing/2014/main" id="{B37181EB-FD75-4E75-B56E-9B357D5D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57700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100"/>
          </a:solidFill>
          <a:ln xmlns:a="http://schemas.openxmlformats.org/drawingml/2006/main" w="7620">
            <a:solidFill>
              <a:srgbClr val="B28A00"/>
            </a:solidFill>
            <a:prstDash val="solid"/>
          </a:ln>
        </p:spPr>
      </p:sp>
      <p:sp>
        <p:nvSpPr>
          <p:cNvPr id="10" name="architecture-arrow-4">
            <a:extLst xmlns:a="http://schemas.openxmlformats.org/drawingml/2006/main">
              <a:ext uri="{FF2B5EF4-FFF2-40B4-BE49-F238E27FC236}">
                <a16:creationId xmlns:a16="http://schemas.microsoft.com/office/drawing/2014/main" id="{DABC8C8F-E4FF-4B40-B015-475DE33F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57700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100"/>
          </a:solidFill>
          <a:ln xmlns:a="http://schemas.openxmlformats.org/drawingml/2006/main" w="7620">
            <a:solidFill>
              <a:srgbClr val="B28A00"/>
            </a:solidFill>
            <a:prstDash val="solid"/>
          </a:ln>
        </p:spPr>
      </p:sp>
      <p:sp>
        <p:nvSpPr>
          <p:cNvPr id="11" name="depth-node">
            <a:extLst xmlns:a="http://schemas.openxmlformats.org/drawingml/2006/main">
              <a:ext uri="{FF2B5EF4-FFF2-40B4-BE49-F238E27FC236}">
                <a16:creationId xmlns:a16="http://schemas.microsoft.com/office/drawing/2014/main" id="{F28BFB70-8D17-454D-A8DF-BB1DC8B9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1952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1"/>
          </a:solidFill>
          <a:ln xmlns:a="http://schemas.openxmlformats.org/drawingml/2006/main" w="11430">
            <a:solidFill>
              <a:srgbClr val="3036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84 x 84</a:t>
            </a:r>
          </a:p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Depth</a:t>
            </a:r>
          </a:p>
        </p:txBody>
      </p:sp>
      <p:sp>
        <p:nvSpPr>
          <p:cNvPr id="12" name="state-node">
            <a:extLst xmlns:a="http://schemas.openxmlformats.org/drawingml/2006/main">
              <a:ext uri="{FF2B5EF4-FFF2-40B4-BE49-F238E27FC236}">
                <a16:creationId xmlns:a16="http://schemas.microsoft.com/office/drawing/2014/main" id="{4A33DAB1-5D36-4D36-8B23-0DCD4D0F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81125"/>
            <a:ext cx="1952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3036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6-D Goal</a:t>
            </a:r>
          </a:p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+ Velocity</a:t>
            </a:r>
          </a:p>
        </p:txBody>
      </p:sp>
      <p:sp>
        <p:nvSpPr>
          <p:cNvPr id="13" name="fusion-node">
            <a:extLst xmlns:a="http://schemas.openxmlformats.org/drawingml/2006/main">
              <a:ext uri="{FF2B5EF4-FFF2-40B4-BE49-F238E27FC236}">
                <a16:creationId xmlns:a16="http://schemas.microsoft.com/office/drawing/2014/main" id="{099701AB-C98D-43BA-8511-15CEAE1E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717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11430">
            <a:solidFill>
              <a:srgbClr val="3036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CNN 3,136 + State 6</a:t>
            </a:r>
          </a:p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= 3,142 features</a:t>
            </a:r>
          </a:p>
        </p:txBody>
      </p:sp>
      <p:sp>
        <p:nvSpPr>
          <p:cNvPr id="14" name="shared-node">
            <a:extLst xmlns:a="http://schemas.openxmlformats.org/drawingml/2006/main">
              <a:ext uri="{FF2B5EF4-FFF2-40B4-BE49-F238E27FC236}">
                <a16:creationId xmlns:a16="http://schemas.microsoft.com/office/drawing/2014/main" id="{9CB5D167-C078-47BD-B17A-6518418D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1475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11430">
            <a:solidFill>
              <a:srgbClr val="3036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FC 512 -&gt; LayerNorm -&gt; Tanh</a:t>
            </a:r>
          </a:p>
        </p:txBody>
      </p:sp>
      <p:sp>
        <p:nvSpPr>
          <p:cNvPr id="15" name="actor-node">
            <a:extLst xmlns:a="http://schemas.openxmlformats.org/drawingml/2006/main">
              <a:ext uri="{FF2B5EF4-FFF2-40B4-BE49-F238E27FC236}">
                <a16:creationId xmlns:a16="http://schemas.microsoft.com/office/drawing/2014/main" id="{AC86B9FE-F06A-490F-A44F-B0D3BD48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0125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A"/>
          </a:solidFill>
          <a:ln xmlns:a="http://schemas.openxmlformats.org/drawingml/2006/main" w="11430">
            <a:solidFill>
              <a:srgbClr val="3036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Actor</a:t>
            </a:r>
          </a:p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6 logits</a:t>
            </a:r>
          </a:p>
        </p:txBody>
      </p:sp>
      <p:sp>
        <p:nvSpPr>
          <p:cNvPr id="16" name="critic-node">
            <a:extLst xmlns:a="http://schemas.openxmlformats.org/drawingml/2006/main">
              <a:ext uri="{FF2B5EF4-FFF2-40B4-BE49-F238E27FC236}">
                <a16:creationId xmlns:a16="http://schemas.microsoft.com/office/drawing/2014/main" id="{49F0FB07-2907-4420-8D70-F97E0F2E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10125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8"/>
          </a:solidFill>
          <a:ln xmlns:a="http://schemas.openxmlformats.org/drawingml/2006/main" w="11430">
            <a:solidFill>
              <a:srgbClr val="3036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Critic</a:t>
            </a:r>
          </a:p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V(s)</a:t>
            </a:r>
          </a:p>
        </p:txBody>
      </p:sp>
    </p:spTree>
    <p:extLst>
      <p:ext uri="{BB962C8B-B14F-4D97-AF65-F5344CB8AC3E}">
        <p14:creationId xmlns:p14="http://schemas.microsoft.com/office/powerpoint/2010/main" val="5462831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Validation selects; a fresh seed tests once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900" y="1181100"/>
            <a:ext cx="5905500" cy="4667250"/>
          </a:xfrm>
        </p:spPr>
        <p:txBody>
          <a:bodyPr xmlns:a="http://schemas.openxmlformats.org/drawingml/2006/main">
            <a:normAutofit fontScale="95999"/>
          </a:bodyPr>
          <a:lstStyle xmlns:a="http://schemas.openxmlformats.org/drawingml/2006/main"/>
          <a:p xmlns:a="http://schemas.openxmlformats.org/drawingml/2006/main">
            <a:pPr>
              <a:buFont typeface="Wingdings"/>
              <a:buChar char="Ø"/>
            </a:pPr>
            <a:r>
              <a:t>Fair budget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45,000 interactions per method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Same final task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Start, target, reward and max 150 steps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Metrics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Success, collision, timeout, reward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Steps, path length, final distance, min depth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Training seed: 7 | Test seed: 20007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Presenter: COMP9444 Project Team</a:t>
            </a:r>
          </a:p>
        </p:txBody>
      </p:sp>
      <p:sp>
        <p:nvSpPr>
          <p:cNvPr id="7" name="protocol-arrow-1">
            <a:extLst xmlns:a="http://schemas.openxmlformats.org/drawingml/2006/main">
              <a:ext uri="{FF2B5EF4-FFF2-40B4-BE49-F238E27FC236}">
                <a16:creationId xmlns:a16="http://schemas.microsoft.com/office/drawing/2014/main" id="{60033ABE-F1A7-484F-9D87-A0D5C883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24125"/>
            <a:ext cx="514350" cy="3333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D100"/>
          </a:solidFill>
          <a:ln xmlns:a="http://schemas.openxmlformats.org/drawingml/2006/main" w="7620">
            <a:solidFill>
              <a:srgbClr val="B28A00"/>
            </a:solidFill>
            <a:prstDash val="solid"/>
          </a:ln>
        </p:spPr>
      </p:sp>
      <p:sp>
        <p:nvSpPr>
          <p:cNvPr id="8" name="protocol-arrow-2">
            <a:extLst xmlns:a="http://schemas.openxmlformats.org/drawingml/2006/main">
              <a:ext uri="{FF2B5EF4-FFF2-40B4-BE49-F238E27FC236}">
                <a16:creationId xmlns:a16="http://schemas.microsoft.com/office/drawing/2014/main" id="{A05AA33C-E8A7-411B-B238-E689CBAF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625"/>
            <a:ext cx="514350" cy="3333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D100"/>
          </a:solidFill>
          <a:ln xmlns:a="http://schemas.openxmlformats.org/drawingml/2006/main" w="7620">
            <a:solidFill>
              <a:srgbClr val="B28A00"/>
            </a:solidFill>
            <a:prstDash val="solid"/>
          </a:ln>
        </p:spPr>
      </p:sp>
      <p:sp>
        <p:nvSpPr>
          <p:cNvPr id="9" name="protocol-stage-1">
            <a:extLst xmlns:a="http://schemas.openxmlformats.org/drawingml/2006/main">
              <a:ext uri="{FF2B5EF4-FFF2-40B4-BE49-F238E27FC236}">
                <a16:creationId xmlns:a16="http://schemas.microsoft.com/office/drawing/2014/main" id="{62CDBDDE-70E5-4F67-8D49-CAD6AB5B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24000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3036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All checkpoints</a:t>
            </a:r>
          </a:p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5 episodes each</a:t>
            </a:r>
          </a:p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Seed 7</a:t>
            </a:r>
          </a:p>
        </p:txBody>
      </p:sp>
      <p:sp>
        <p:nvSpPr>
          <p:cNvPr id="10" name="protocol-stage-2">
            <a:extLst xmlns:a="http://schemas.openxmlformats.org/drawingml/2006/main">
              <a:ext uri="{FF2B5EF4-FFF2-40B4-BE49-F238E27FC236}">
                <a16:creationId xmlns:a16="http://schemas.microsoft.com/office/drawing/2014/main" id="{59A6F145-1041-453B-A06E-A0422CF3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05125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A"/>
          </a:solidFill>
          <a:ln xmlns:a="http://schemas.openxmlformats.org/drawingml/2006/main" w="11430">
            <a:solidFill>
              <a:srgbClr val="3036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Top 3 checkpoints</a:t>
            </a:r>
          </a:p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30 episodes each</a:t>
            </a:r>
          </a:p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Seed 10007</a:t>
            </a:r>
          </a:p>
        </p:txBody>
      </p:sp>
      <p:sp>
        <p:nvSpPr>
          <p:cNvPr id="11" name="protocol-stage-3">
            <a:extLst xmlns:a="http://schemas.openxmlformats.org/drawingml/2006/main">
              <a:ext uri="{FF2B5EF4-FFF2-40B4-BE49-F238E27FC236}">
                <a16:creationId xmlns:a16="http://schemas.microsoft.com/office/drawing/2014/main" id="{BDF7F180-067C-41FF-81E5-C98DF620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38625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1"/>
          </a:solidFill>
          <a:ln xmlns:a="http://schemas.openxmlformats.org/drawingml/2006/main" w="11430">
            <a:solidFill>
              <a:srgbClr val="3036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Selected model</a:t>
            </a:r>
          </a:p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50 final-test episodes</a:t>
            </a:r>
          </a:p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Seed 20007</a:t>
            </a:r>
          </a:p>
        </p:txBody>
      </p:sp>
    </p:spTree>
    <p:extLst>
      <p:ext uri="{BB962C8B-B14F-4D97-AF65-F5344CB8AC3E}">
        <p14:creationId xmlns:p14="http://schemas.microsoft.com/office/powerpoint/2010/main" val="9460888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Scratch PPO improves late; curriculum lags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900" y="1066800"/>
            <a:ext cx="4762500" cy="4810125"/>
          </a:xfrm>
        </p:spPr>
        <p:txBody>
          <a:bodyPr xmlns:a="http://schemas.openxmlformats.org/drawingml/2006/main">
            <a:normAutofit fontScale="90749" lnSpcReduction="10000"/>
          </a:bodyPr>
          <a:lstStyle xmlns:a="http://schemas.openxmlformats.org/drawingml/2006/main"/>
          <a:p xmlns:a="http://schemas.openxmlformats.org/drawingml/2006/main">
            <a:pPr>
              <a:buFont typeface="Wingdings"/>
              <a:buChar char="Ø"/>
            </a:pPr>
            <a:r>
              <a:t>Scratch PPO reaches 0.7-0.8 moving success late in training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DQN remains mostly near zero despite epsilon exploration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Curriculum changes the target at 5k and 15k interactions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Easy-stage success is not final-route success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All curves remain noisy: checkpoint selection matters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3b70ab7084d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76200" y="-762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Presenter: COMP9444 Project Team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c2dca81844a86"/>
          <a:stretch xmlns:a="http://schemas.openxmlformats.org/drawingml/2006/main"/>
        </p:blipFill>
        <p:spPr>
          <a:xfrm xmlns:a="http://schemas.openxmlformats.org/drawingml/2006/main">
            <a:off x="5512005" y="3057525"/>
            <a:ext cx="6197190" cy="2828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3636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PPO Scratch reaches 98% success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900" y="1238250"/>
            <a:ext cx="5334000" cy="44767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Font typeface="Wingdings"/>
              <a:buChar char="Ø"/>
            </a:pPr>
            <a:r>
              <a:t>PPO Scratch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98% success | 2% collision | 0% timeout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Selected checkpoint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42,500 interactions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Efficiency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52.28 steps | 38.27 m path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Mean reward: 141.1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Presenter: COMP9444 Project Team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48375" y="1428750"/>
          <a:ext xmlns:a="http://schemas.openxmlformats.org/drawingml/2006/main" cx="5619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b0bee47679404d"/>
          </a:graphicData>
        </a:graphic>
      </p:graphicFrame>
    </p:spTree>
    <p:extLst>
      <p:ext uri="{BB962C8B-B14F-4D97-AF65-F5344CB8AC3E}">
        <p14:creationId xmlns:p14="http://schemas.microsoft.com/office/powerpoint/2010/main" val="22621917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three policies fail in different ways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900" y="1066800"/>
            <a:ext cx="4762500" cy="4810125"/>
          </a:xfrm>
        </p:spPr>
        <p:txBody>
          <a:bodyPr xmlns:a="http://schemas.openxmlformats.org/drawingml/2006/main">
            <a:normAutofit fontScale="88216" lnSpcReduction="10000"/>
          </a:bodyPr>
          <a:lstStyle xmlns:a="http://schemas.openxmlformats.org/drawingml/2006/main"/>
          <a:p xmlns:a="http://schemas.openxmlformats.org/drawingml/2006/main">
            <a:pPr>
              <a:buFont typeface="Wingdings"/>
              <a:buChar char="Ø"/>
            </a:pPr>
            <a:r>
              <a:t>DQN: direct pursuit and 72% collision; mean min depth 0.37 m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Curriculum PPO: only 2% collision, but 30% timeout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Scratch PPO learns a repeatable lateral detour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Sampling exposes residual uncertainty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PPO Scratch: 98% deterministic -&gt; 66% stochastic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PPO Curriculum: 68% deterministic -&gt; 46% stochastic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6dfa4058c4e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76200" y="-762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Presenter: COMP9444 Project Team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f61927a514b11"/>
          <a:stretch xmlns:a="http://schemas.openxmlformats.org/drawingml/2006/main"/>
        </p:blipFill>
        <p:spPr>
          <a:xfrm xmlns:a="http://schemas.openxmlformats.org/drawingml/2006/main">
            <a:off x="5952735" y="3057525"/>
            <a:ext cx="5315730" cy="2828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36365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>
            <a:normAutofit fontScale="93217"/>
          </a:bodyPr>
          <a:lstStyle xmlns:a="http://schemas.openxmlformats.org/drawingml/2006/main"/>
          <a:p xmlns:a="http://schemas.openxmlformats.org/drawingml/2006/main">
            <a:r>
              <a:t>Strong on one route; generalisation remains open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1648" y="975360"/>
            <a:ext cx="11631168" cy="5035296"/>
          </a:xfrm>
        </p:spPr>
        <p:txBody>
          <a:bodyPr xmlns:a="http://schemas.openxmlformats.org/drawingml/2006/main">
            <a:normAutofit fontScale="95591"/>
          </a:bodyPr>
          <a:lstStyle xmlns:a="http://schemas.openxmlformats.org/drawingml/2006/main"/>
          <a:p xmlns:a="http://schemas.openxmlformats.org/drawingml/2006/main">
            <a:pPr>
              <a:buFont typeface="Wingdings"/>
              <a:buChar char="Ø"/>
            </a:pPr>
            <a:r>
              <a:t>What worked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Stable PPO learned a safe, efficient detour: 98% success and 2% collision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What did not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Vanilla DQN collided; curriculum PPO preserved a short-horizon timeout bias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What we can claim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Strong fixed-route AirSimNH performance under a controlled budget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What we cannot claim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Generalisation to unseen routes, scenes or real drones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Next: 3-5 seeds, route perturbations, second scene, multi-route training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Presenter: COMP9444 Project Team</a:t>
            </a:r>
          </a:p>
        </p:txBody>
      </p:sp>
    </p:spTree>
    <p:extLst>
      <p:ext uri="{BB962C8B-B14F-4D97-AF65-F5344CB8AC3E}">
        <p14:creationId xmlns:p14="http://schemas.microsoft.com/office/powerpoint/2010/main" val="403291576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Questions</a:t>
            </a:r>
          </a:p>
        </p:txBody>
      </p:sp>
      <p:pic>
        <p:nvPicPr>
          <p:cNvPr id="11" name="Content Placeholder 6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ba1f257a61ab40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266192" y="1233577"/>
            <a:ext cx="6705280" cy="4589253"/>
          </a:xfrm>
        </p:spPr>
      </p:pic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CE4871-DE5C-860E-EE36-92B2A299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81" y="6308080"/>
            <a:ext cx="670528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hlinkClick xmlns:r="http://schemas.openxmlformats.org/officeDocument/2006/relationships" r:id="R1d27211336c64afa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9005133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2026-07-29T08:56:54.1420000Z</dcterms:created>
  <dcterms:modified xsi:type="dcterms:W3CDTF">2026-07-29T08:56:54.1420000Z</dcterms:modified>
</coreProperties>
</file>